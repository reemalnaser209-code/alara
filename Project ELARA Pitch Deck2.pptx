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Plus Jakarta Sans"/>
      <p:bold r:id="rId15"/>
    </p:embeddedFont>
    <p:embeddedFont>
      <p:font typeface="Space Grotesk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2"/>
  </p:normalViewPr>
  <p:slideViewPr>
    <p:cSldViewPr snapToGrid="0" snapToObjects="1">
      <p:cViewPr varScale="1">
        <p:scale>
          <a:sx n="113" d="100"/>
          <a:sy n="113" d="100"/>
        </p:scale>
        <p:origin x="54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781675"/>
            <a:ext cx="109728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78167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56673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759" y="1533525"/>
            <a:ext cx="4217640" cy="3429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284" y="1543050"/>
            <a:ext cx="4198590" cy="3409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06025" y="538162"/>
            <a:ext cx="1845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GCC HACKATHON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4100" y="6067425"/>
            <a:ext cx="2047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B6D4"/>
                </a:solidFill>
                <a:latin typeface="Plus Jakarta Sans"/>
              </a:rPr>
              <a:t>Zero Capex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533400"/>
            <a:ext cx="383976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Space Grotesk"/>
              </a:rPr>
              <a:t>PROJECT ELARA • EARTH 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303264"/>
            <a:ext cx="6712870" cy="1089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900" b="1" i="0" u="none">
                <a:solidFill>
                  <a:srgbClr val="F8FAFC"/>
                </a:solidFill>
                <a:latin typeface="Space Grotesk"/>
              </a:rPr>
              <a:t>Satellite Based Emissions Monitoring for the Gulf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621285"/>
            <a:ext cx="5619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Continuous, facility-level air quality tracking powered by Sentinel-5P TROPOMI remote sensing.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981700"/>
            <a:ext cx="17621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Primary Sensor </a:t>
            </a:r>
            <a:r>
              <a:rPr sz="1125" b="1" i="0" u="none">
                <a:solidFill>
                  <a:srgbClr val="E2E8F0"/>
                </a:solidFill>
                <a:latin typeface="Plus Jakarta Sans"/>
              </a:rPr>
              <a:t>Copernicus Sentinel-5P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1275" y="5981700"/>
            <a:ext cx="1276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Spatial Resolution </a:t>
            </a:r>
            <a:r>
              <a:rPr sz="1125" b="1" i="0" u="none">
                <a:solidFill>
                  <a:srgbClr val="38BDF8"/>
                </a:solidFill>
                <a:latin typeface="Plus Jakarta Sans"/>
              </a:rPr>
              <a:t>3.5 × 5.5 km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43575"/>
            <a:ext cx="109728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93156"/>
            <a:ext cx="3505200" cy="2195512"/>
          </a:xfrm>
          <a:prstGeom prst="roundRect">
            <a:avLst>
              <a:gd name="adj" fmla="val 69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393156"/>
            <a:ext cx="3505200" cy="2195512"/>
          </a:xfrm>
          <a:prstGeom prst="roundRect">
            <a:avLst>
              <a:gd name="adj" fmla="val 69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393156"/>
            <a:ext cx="3505200" cy="2195512"/>
          </a:xfrm>
          <a:prstGeom prst="roundRect">
            <a:avLst>
              <a:gd name="adj" fmla="val 69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707481"/>
            <a:ext cx="28765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707481"/>
            <a:ext cx="287655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707481"/>
            <a:ext cx="287655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Market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The GCC Ground Monitoring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934075"/>
            <a:ext cx="238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Abu Dhabi PM10 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3650" y="5934075"/>
            <a:ext cx="58483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Only 5 primary stations cover the entire metropolitan industrial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164681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Coverage Blind Spots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545681"/>
            <a:ext cx="29718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Sparse surface stations miss vast industrial corridors and offshore platforms.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164681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Detection Lag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545681"/>
            <a:ext cx="29718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Ground sensors report local air quality without identifying plume sources.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164681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Capital Intensity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545681"/>
            <a:ext cx="29718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Physical stations cost tens of thousands per unit, preventing rapid expansion.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651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4328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1006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842" y="2066925"/>
            <a:ext cx="4742557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367" y="2076450"/>
            <a:ext cx="4723507" cy="3409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The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Project ELARA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257651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4432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431006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2576512"/>
            <a:ext cx="69270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Zero-Capex Regional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2852737"/>
            <a:ext cx="537299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Scans the entire GCC daily using open-access ESA Sentinel-5P data streams.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443287"/>
            <a:ext cx="69270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3.5 × 5.5 km Spatial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3719512"/>
            <a:ext cx="537299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Upgraded from legacy OMI resolution to pinpoint specific refineries and ports.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4310062"/>
            <a:ext cx="69270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Automated Plume Attribution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4586287"/>
            <a:ext cx="537299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Combines atmospheric gas densities with temporal models for point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00725"/>
            <a:ext cx="10972800" cy="523875"/>
          </a:xfrm>
          <a:prstGeom prst="roundRect">
            <a:avLst>
              <a:gd name="adj" fmla="val 21818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00337"/>
            <a:ext cx="2600325" cy="1638300"/>
          </a:xfrm>
          <a:prstGeom prst="roundRect">
            <a:avLst>
              <a:gd name="adj" fmla="val 8139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329112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700337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700337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0" y="2700337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00425" y="2700337"/>
            <a:ext cx="2600325" cy="1638300"/>
          </a:xfrm>
          <a:prstGeom prst="roundRect">
            <a:avLst>
              <a:gd name="adj" fmla="val 8139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0425" y="4329112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0425" y="2700337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0425" y="2700337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91225" y="2700337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1250" y="2790825"/>
            <a:ext cx="2600325" cy="1457325"/>
          </a:xfrm>
          <a:prstGeom prst="roundRect">
            <a:avLst>
              <a:gd name="adj" fmla="val 9150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0" y="423862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0" y="2790825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1250" y="2790825"/>
            <a:ext cx="9525" cy="1457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82050" y="2790825"/>
            <a:ext cx="9525" cy="1457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82075" y="2700337"/>
            <a:ext cx="2600325" cy="1638300"/>
          </a:xfrm>
          <a:prstGeom prst="roundRect">
            <a:avLst>
              <a:gd name="adj" fmla="val 8139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82075" y="4329112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82075" y="2700337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82075" y="2700337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572875" y="2700337"/>
            <a:ext cx="9525" cy="1638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Target Chemical Species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Atmospheric Gas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928937"/>
            <a:ext cx="2238375" cy="118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NO₂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9025" y="2928937"/>
            <a:ext cx="2238375" cy="118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SO₂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850" y="3019425"/>
            <a:ext cx="223837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HCHO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0675" y="2928937"/>
            <a:ext cx="2238375" cy="118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PM10 / PM2.5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238125" y="5972175"/>
            <a:ext cx="12668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369A1"/>
                </a:solidFill>
                <a:latin typeface="Plus Jakarta Sans"/>
              </a:rPr>
              <a:t>Measurement Basis: Tropospheric Column Density integrated vertically (molecules/cm² or µmol/m²)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3243262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Nitrogen Dioxide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3557587"/>
            <a:ext cx="22193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Combustion marker from vehicles, power plants, and oil refining.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8550" y="3243262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Sulfur Dioxide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8550" y="3557587"/>
            <a:ext cx="22193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Heavy fuel oil combustion, refining operations, and marine shipping.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9375" y="3333750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Formaldehyde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9375" y="3648075"/>
            <a:ext cx="2219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Petrochemical processing marker and ozone precursor.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0200" y="3243262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Particulates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0200" y="3557587"/>
            <a:ext cx="22193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Modeled via surface reflectance over unmonitored zones.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143625"/>
            <a:ext cx="10972800" cy="180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38437"/>
            <a:ext cx="3454449" cy="190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68849" y="2738437"/>
            <a:ext cx="3454449" cy="190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28099" y="2743200"/>
            <a:ext cx="3454449" cy="1895475"/>
          </a:xfrm>
          <a:prstGeom prst="roundRect">
            <a:avLst>
              <a:gd name="adj" fmla="val 8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6143625"/>
            <a:ext cx="38100" cy="1809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Observational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GCC Pollution Trends (2005–2023)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593" y="3043237"/>
            <a:ext cx="3708462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EF4444"/>
                </a:solidFill>
                <a:latin typeface="Plus Jakarta Sans"/>
              </a:rPr>
              <a:t>+12% </a:t>
            </a:r>
            <a:r>
              <a:rPr sz="1200" b="1" i="0" u="none">
                <a:solidFill>
                  <a:srgbClr val="0F172A"/>
                </a:solidFill>
                <a:latin typeface="Plus Jakarta Sans"/>
              </a:rPr>
              <a:t>Peak Annual NO₂ Surge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1843" y="3043237"/>
            <a:ext cx="370846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 dirty="0">
                <a:solidFill>
                  <a:srgbClr val="0F172A"/>
                </a:solidFill>
                <a:latin typeface="Plus Jakarta Sans"/>
              </a:rPr>
              <a:t>-1.7% </a:t>
            </a:r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Post</a:t>
            </a:r>
            <a:r>
              <a:rPr lang="en-US" sz="12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200" b="1" i="0" u="none" dirty="0">
                <a:solidFill>
                  <a:srgbClr val="0F172A"/>
                </a:solidFill>
                <a:latin typeface="Plus Jakarta Sans"/>
              </a:rPr>
              <a:t>2018 Policy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93" y="3048000"/>
            <a:ext cx="3708462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284C7"/>
                </a:solidFill>
                <a:latin typeface="Plus Jakarta Sans"/>
              </a:rPr>
              <a:t>+25% </a:t>
            </a:r>
            <a:r>
              <a:rPr sz="1200" b="1" i="0" u="none">
                <a:solidFill>
                  <a:srgbClr val="0F172A"/>
                </a:solidFill>
                <a:latin typeface="Plus Jakarta Sans"/>
              </a:rPr>
              <a:t>Offshore Platform Spike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6143625"/>
            <a:ext cx="113919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Key Takeaway: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Stricter vehicular standards and cleaner power shifts caused regional emissions to peak in ~2018, creating a clear policy evaluation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700" y="3967162"/>
            <a:ext cx="35322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Urban and industrial expansion across the Middle East (2005–2014).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9949" y="3957637"/>
            <a:ext cx="353224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Annual NO₂ decline in Qatar, Bahrain, and Dammam corridor (2018–2023).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9199" y="3962400"/>
            <a:ext cx="35322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Elevation above background levels under calm wind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91200"/>
            <a:ext cx="10972800" cy="533400"/>
          </a:xfrm>
          <a:prstGeom prst="roundRect">
            <a:avLst>
              <a:gd name="adj" fmla="val 2142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19400"/>
            <a:ext cx="2414587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62337" y="2814637"/>
            <a:ext cx="2414587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15075" y="2819400"/>
            <a:ext cx="2414587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67812" y="2733675"/>
            <a:ext cx="2414587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587" y="3438525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3438525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062" y="3438525"/>
            <a:ext cx="1333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Google Earth Engine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981700"/>
            <a:ext cx="10687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monospace"/>
              </a:rPr>
              <a:t>// Earth Engine Sample: var percentageChange = current.subtract(baseline).divide(baseline).multiply(100);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Technical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048000"/>
            <a:ext cx="2052637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STEP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0937" y="3043237"/>
            <a:ext cx="2052637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675" y="3048000"/>
            <a:ext cx="2052637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STEP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6412" y="2962275"/>
            <a:ext cx="2052637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STEP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333750"/>
            <a:ext cx="25440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AOI 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629025"/>
            <a:ext cx="20335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Bounding box across Gulf region (40–60°E, 18–32°N).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0462" y="3328987"/>
            <a:ext cx="25440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0462" y="3624262"/>
            <a:ext cx="2033587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Stream S5P OFFL L3 tropospheric NO₂ collections.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3333750"/>
            <a:ext cx="25440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Quality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3629025"/>
            <a:ext cx="20335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Threshold qa_value &gt; 0.75 to remove cloud cover distortion.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5937" y="3248025"/>
            <a:ext cx="25440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Trend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5937" y="3543300"/>
            <a:ext cx="20335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Compute multi-year mean composites and percentage deltas.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34125" y="2171700"/>
            <a:ext cx="5248275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34125" y="3381375"/>
            <a:ext cx="5248275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34125" y="4410075"/>
            <a:ext cx="5248275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90725"/>
            <a:ext cx="526732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000250"/>
            <a:ext cx="5248275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0680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Proof of Concept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09625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TROPOMI NO₂ Density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371725"/>
            <a:ext cx="56578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Regional Hotspot Identification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628900"/>
            <a:ext cx="49434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High concentrations highlighted along major refining hubs and shipping lanes.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581400"/>
            <a:ext cx="56578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Point-Source Differentiation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838575"/>
            <a:ext cx="56578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Separates urban traffic plumes from stationary petrochemical stacks.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4610100"/>
            <a:ext cx="56578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Model Accuracy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4867275"/>
            <a:ext cx="49434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Validated within ~5–15% against ship and surface campaigns (SCOAPE).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386078"/>
              </p:ext>
            </p:extLst>
          </p:nvPr>
        </p:nvGraphicFramePr>
        <p:xfrm>
          <a:off x="609600" y="2495550"/>
          <a:ext cx="10972798" cy="2571750"/>
        </p:xfrm>
        <a:graphic>
          <a:graphicData uri="http://schemas.openxmlformats.org/drawingml/2006/table">
            <a:tbl>
              <a:tblPr/>
              <a:tblGrid>
                <a:gridCol w="2714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7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0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0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Monitoring Approach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Spatial Coverage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Deployment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Attribution Detail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Ground Stations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1-2 km radius around station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$30K-$100K per station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Point specific, but sparse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Manual Compliance Audits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Periodic facility snapshots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High recurring labor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Self-reported, prone to gaps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Generic Air Quality Apps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City-wide regional averages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Low software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No facility attribution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Project ELARA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Full GCC Regional Footprint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Near</a:t>
                      </a:r>
                      <a:r>
                        <a:rPr lang="en-US" sz="1125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 </a:t>
                      </a:r>
                      <a:r>
                        <a:rPr sz="1125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Zero Hardware Capex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0369A1"/>
                          </a:solidFill>
                          <a:latin typeface="Plus Jakarta Sans"/>
                        </a:rPr>
                        <a:t>Facility Level (3.5 × 5.5 km)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Strategic Value Proposition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19312"/>
            <a:ext cx="5372100" cy="1590675"/>
          </a:xfrm>
          <a:prstGeom prst="roundRect">
            <a:avLst>
              <a:gd name="adj" fmla="val 95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119312"/>
            <a:ext cx="5372100" cy="1590675"/>
          </a:xfrm>
          <a:prstGeom prst="roundRect">
            <a:avLst>
              <a:gd name="adj" fmla="val 95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38587"/>
            <a:ext cx="5372100" cy="1504950"/>
          </a:xfrm>
          <a:prstGeom prst="roundRect">
            <a:avLst>
              <a:gd name="adj" fmla="val 101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938587"/>
            <a:ext cx="5372100" cy="1504950"/>
          </a:xfrm>
          <a:prstGeom prst="roundRect">
            <a:avLst>
              <a:gd name="adj" fmla="val 101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395537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395537"/>
            <a:ext cx="3048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214812"/>
            <a:ext cx="2000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214812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Market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Target Customer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776537"/>
            <a:ext cx="632579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Environmental Regulators (B2G)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071812"/>
            <a:ext cx="4914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Regional hotspot dashboards and automated compliance alert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2776537"/>
            <a:ext cx="5705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Oil &amp; Gas Operators (B2B)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071812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Self-monitoring reports and early plume leak detection prior to fines.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595812"/>
            <a:ext cx="632579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Industrial Insurers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986337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Historical emissions trend analytics for liability risk pricing.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4595812"/>
            <a:ext cx="5705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ESG Consultancies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4891087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Independent third-party satellite verification modules.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62625"/>
            <a:ext cx="10972800" cy="561975"/>
          </a:xfrm>
          <a:prstGeom prst="roundRect">
            <a:avLst>
              <a:gd name="adj" fmla="val 2033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66850"/>
            <a:ext cx="3524250" cy="4067175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24350" y="1466850"/>
            <a:ext cx="3543300" cy="4067175"/>
          </a:xfrm>
          <a:prstGeom prst="roundRect">
            <a:avLst>
              <a:gd name="adj" fmla="val 4301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8150" y="1466850"/>
            <a:ext cx="3524250" cy="4067175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Commercial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Revenue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5953125"/>
            <a:ext cx="5655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Initial TAM: 50–150 Major Industrial Facilities Across 6 GCC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8700" y="5953125"/>
            <a:ext cx="3333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Lean Cost Base: Zero Raw Data Capex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1743075"/>
            <a:ext cx="3067050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TIER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5086350"/>
            <a:ext cx="3714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$0 (Lead Gen)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1752600"/>
            <a:ext cx="3067050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TIER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5076825"/>
            <a:ext cx="3714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Annual Enterprise License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4375" y="1743075"/>
            <a:ext cx="3067050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TIER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4375" y="5086350"/>
            <a:ext cx="3714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Monthly / Site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000250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Public / Freemium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314575"/>
            <a:ext cx="3067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Free city-level air quality index maps to build trust and market awareness.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0100" y="2009775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B2G Subscription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2324100"/>
            <a:ext cx="3067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Annual contracts for regional dashboards, alert APIs, and policy reports.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2000250"/>
            <a:ext cx="385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B2B Operator 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4375" y="2314575"/>
            <a:ext cx="3067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Private facility dashboards with automated compliance reporting.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7975"/>
            <a:ext cx="3505200" cy="186690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705350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847975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847975"/>
            <a:ext cx="9525" cy="1866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05275" y="2847975"/>
            <a:ext cx="9525" cy="1866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0" y="2924175"/>
            <a:ext cx="3505200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4629150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2924175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2924175"/>
            <a:ext cx="9525" cy="1714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39075" y="2924175"/>
            <a:ext cx="9525" cy="1714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77200" y="2938462"/>
            <a:ext cx="3505200" cy="1685925"/>
          </a:xfrm>
          <a:prstGeom prst="roundRect">
            <a:avLst>
              <a:gd name="adj" fmla="val 9039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461486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2938462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7200" y="2938462"/>
            <a:ext cx="9525" cy="1685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2875" y="2938462"/>
            <a:ext cx="9525" cy="1685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600" y="533400"/>
            <a:ext cx="110680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Execution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8096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Technical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52775"/>
            <a:ext cx="29908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PHASE 01 • MVP &amp;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8200" y="3228975"/>
            <a:ext cx="2990850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PHASE 02 • MULTI-GAS 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3243262"/>
            <a:ext cx="2990850" cy="1076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PHASE 03 • PILOT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350520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Wind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3857625"/>
            <a:ext cx="29718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Incorporate ERA5 wind vectors to trace plume origin and cross-validate against surface stations.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7725" y="3581400"/>
            <a:ext cx="377547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Methane &amp; SO₂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7725" y="3952875"/>
            <a:ext cx="29718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Incorporate CH₄ plume detection and integrate hyperspectral data streams.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1525" y="359568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Commercial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1525" y="3948112"/>
            <a:ext cx="2971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Deploy live monitoring dashboard with a regional regulator or oil operator.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953125"/>
            <a:ext cx="109728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9531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358973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Space Grotesk"/>
              </a:rPr>
              <a:t>PROJECT ELARA • JUDGING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5650" y="538162"/>
            <a:ext cx="952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296" y="1951732"/>
            <a:ext cx="11251406" cy="1439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sz="3150" b="1" i="0" u="none">
                <a:solidFill>
                  <a:srgbClr val="F8FAFC"/>
                </a:solidFill>
                <a:latin typeface="Space Grotesk"/>
              </a:rPr>
              <a:t>"Turning free satellite data into continuous, facility-level emissions records — without installing a single sensor."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153150"/>
            <a:ext cx="3952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Project ELARA • Environmental Observation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2150" y="6153150"/>
            <a:ext cx="2500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Ready for Live Prototype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5129" y="3848844"/>
            <a:ext cx="3546202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6B6D4"/>
                </a:solidFill>
                <a:latin typeface="Plus Jakarta Sans"/>
              </a:rPr>
              <a:t>Regulators &amp; Operators </a:t>
            </a:r>
            <a:r>
              <a:rPr sz="1050" b="1" i="0" u="none">
                <a:solidFill>
                  <a:srgbClr val="94A3B8"/>
                </a:solidFill>
                <a:latin typeface="Plus Jakarta Sans"/>
              </a:rPr>
              <a:t>Clear Paying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2634" y="3848844"/>
            <a:ext cx="2648582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6B6D4"/>
                </a:solidFill>
                <a:latin typeface="Plus Jakarta Sans"/>
              </a:rPr>
              <a:t>Fraction of Capex </a:t>
            </a:r>
            <a:r>
              <a:rPr sz="1050" b="1" i="0" u="none">
                <a:solidFill>
                  <a:srgbClr val="94A3B8"/>
                </a:solidFill>
                <a:latin typeface="Plus Jakarta Sans"/>
              </a:rPr>
              <a:t>High ROI vs Physical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7750" y="3848844"/>
            <a:ext cx="2593888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6B6D4"/>
                </a:solidFill>
                <a:latin typeface="Plus Jakarta Sans"/>
              </a:rPr>
              <a:t>GCC-Wide Scale </a:t>
            </a:r>
            <a:r>
              <a:rPr sz="1050" b="1" i="0" u="none">
                <a:solidFill>
                  <a:srgbClr val="94A3B8"/>
                </a:solidFill>
                <a:latin typeface="Plus Jakarta Sans"/>
              </a:rPr>
              <a:t>Immediate Footprint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6357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https://www.eoportal.org/api/cms/documents/d/eoportal/s5p-2020_auto56-jpeg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39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www.eoportal.org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829</Words>
  <Application>Microsoft Macintosh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Plus Jakarta Sans</vt:lpstr>
      <vt:lpstr>monospace</vt:lpstr>
      <vt:lpstr>Space Grotesk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Reem Ahmed Radhi Alnaser</cp:lastModifiedBy>
  <cp:revision>2</cp:revision>
  <dcterms:created xsi:type="dcterms:W3CDTF">2013-01-27T09:14:16Z</dcterms:created>
  <dcterms:modified xsi:type="dcterms:W3CDTF">2026-10-08T14:14:35Z</dcterms:modified>
  <cp:category/>
</cp:coreProperties>
</file>